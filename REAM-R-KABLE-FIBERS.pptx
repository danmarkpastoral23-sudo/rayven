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 Type="http://schemas.openxmlformats.org/officeDocument/2006/relationships/slideMaster" Target="slideMasters/slideMaster1.xml"/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" Target="slides/slide15.xml"/>
  <Relationship Id="rId16" Type="http://schemas.openxmlformats.org/officeDocument/2006/relationships/slide" Target="slides/slide16.xml"/>
  <Relationship Id="rId17" Type="http://schemas.openxmlformats.org/officeDocument/2006/relationships/slide" Target="slides/slide17.xml"/>
  <Relationship Id="rId18" Type="http://schemas.openxmlformats.org/officeDocument/2006/relationships/slide" Target="slides/slide1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463296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632960" y="0"/>
            <a:ext cx="7620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683760" y="0"/>
            <a:ext cx="7508240" cy="101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04800" y="762000"/>
            <a:ext cx="402336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b" lIns="203200" rIns="0" tIns="101600" bIns="0"/>
          <a:lstStyle/>
          <a:p>
            <a:pPr algn="l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4800"/>
                <a:b/>
              </a:rPr>
              <a:t>REAM-R-KABLE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04800" y="2032000"/>
            <a:ext cx="402336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2032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3600"/>
                <a:b/>
              </a:rPr>
              <a:t>FIBERS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04800" y="2895600"/>
            <a:ext cx="4023360" cy="381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04800" y="3048000"/>
            <a:ext cx="402336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0" tIns="5080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600"/>
              </a:rPr>
              <a:t>Paper and Pulp Industry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04800" y="3454400"/>
            <a:ext cx="402336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5D6D7E"/>
                </a:solidFill>
                <a:latin typeface="Calibri"/>
                <a:sz val="1400"/>
              </a:rPr>
              <a:t>Industrial Plant Engineering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04800" y="3911600"/>
            <a:ext cx="402336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5D6D7E"/>
                </a:solidFill>
                <a:latin typeface="Calibri"/>
                <a:sz val="1400"/>
              </a:rPr>
              <a:t>PROFME 105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5064760" y="355600"/>
            <a:ext cx="674624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0" tIns="50800" bIns="0"/>
          <a:lstStyle/>
          <a:p>
            <a:pPr algn="l" marL="0" indent="0">
              <a:buNone/>
            </a:pPr>
            <a:r>
              <a:rPr lang="en-US" dirty="0">
                <a:solidFill>
                  <a:srgbClr val="1A3A5C"/>
                </a:solidFill>
                <a:latin typeface="Calibri"/>
                <a:sz val="1800"/>
                <a:b/>
              </a:rPr>
              <a:t>Pangasinan State University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5064760" y="863600"/>
            <a:ext cx="674624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Urdaneta City Campus  ·  College of Engineering and Architecture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5064760" y="1447800"/>
            <a:ext cx="6746240" cy="254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5064760" y="1651000"/>
            <a:ext cx="6746240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 lIns="152400" rIns="0" tIns="101600" bIns="0"/>
          <a:lstStyle/>
          <a:p>
            <a:pPr algn="l" marL="0" indent="0">
              <a:buNone/>
              <a:spcBef>
                <a:spcPts val="20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300"/>
                <a:b/>
              </a:rPr>
              <a:t>Prepared by: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1A3A5C"/>
                </a:solidFill>
                <a:latin typeface="Calibri"/>
                <a:sz val="2000"/>
                <a:b/>
              </a:rPr>
              <a:t>DELA CRUZ, JHAN RAYVEN D.</a:t>
            </a:r>
          </a:p>
          <a:p>
            <a:pPr algn="l" marL="0" indent="0">
              <a:buNone/>
              <a:spcBef>
                <a:spcPts val="10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500"/>
              </a:rPr>
              <a:t>BSME 4A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undefined"/>
                </a:solidFill>
                <a:latin typeface="Calibri"/>
                <a:sz val="undefined"/>
              </a:rPr>
              <a:t/>
            </a:r>
          </a:p>
          <a:p>
            <a:pPr algn="l" marL="0" indent="0">
              <a:buNone/>
            </a:pPr>
            <a:r>
              <a:rPr lang="en-US" dirty="0">
                <a:solidFill>
                  <a:srgbClr val="0D7377"/>
                </a:solidFill>
                <a:latin typeface="Calibri"/>
                <a:sz val="1300"/>
                <a:b/>
              </a:rPr>
              <a:t>Submitted to: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1A3A5C"/>
                </a:solidFill>
                <a:latin typeface="Calibri"/>
                <a:sz val="1700"/>
                <a:b/>
              </a:rPr>
              <a:t>ENGR. MARFEL D. ROSARIO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5D6D7E"/>
                </a:solidFill>
                <a:latin typeface="Calibri"/>
                <a:sz val="1400"/>
              </a:rPr>
              <a:t>Instructor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5064760" y="6299200"/>
            <a:ext cx="674624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A.Y. 2025–2026  |  May 2026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176000" y="6705600"/>
            <a:ext cx="952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900"/>
              </a:rPr>
              <a:t>1 of 18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Company Profile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2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About REAM-R-KABLE FIBERS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Location: Barangay Ciudad Real, San Jose del Monte, Bulacan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"REAM" (unit of paper) + "FIBER" (foundation of product) = REMARKABLE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VISION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To be the premier, most technologically advanced and environmentally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remarkable pulp and paper mill in Southeast Asia.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MISSION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Deliver Excellence — high-grade paper exceeding global standards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Champion Sustainability — water recycling; wastepaper as raw material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Empower Community — high-value technical jobs in Bulacan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Drive Innovation — modern engineering in pulping and refining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Introduction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3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Paper, Pulp &amp; the Philippine Industry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PAPER — wood fibers reduced to pulp, formed into a mat, compressed, dried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PULP  — fibrous material from wood/non-wood via chemical or mechanical process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Paper Grades: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Printing &amp; Writing  (bond paper, notebooks)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Newsprint            (newspapers)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Corrugating / Containerboard  (linerboard, fluting)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Tissue &amp; Sanitary Papers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Specialty           (art paper, construction board)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Philippine Context: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PICOP Resources Inc. (only integrated mill) ceased operations in 2010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Industry now relies PRIMARILY on recycled wastepaper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Wastepaper = 19% of total municipal solid waste in PH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Plant Location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4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San Jose Del Monte (SJDM), Bulacan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~42 km from Metro Manila  |  Landlocked component city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3 national roads  |  4 provincial roads  |  402 city roads  |  15 bridges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Why SJDM?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Proximity to Metro Manila — highest wastepaper source density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Near Region 3 (Central Luzon) — rice straw, bagasse, bamboo supply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Access to NAIA, Clark, Subic airports and major seaports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Inside established industrial cluster of Central Luzon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• Bulacan Province: 279,610 ha  |  Cities: Malolos, Meycauayan, SJDM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Hazard Assessment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5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Why SJDM is Safe for Industrial Investment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FLOODING  ➜  LOW RISK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Eastern location; away from coastal lowlands and river floodplains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STORM SURGE  ➜  ZERO RISK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Inland position; surge risk confined to coastal municipalities only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LIQUEFACTION  ➜  ZERO RISK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Stable bedrock / thick soil — WHITE ZONE on hazard map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LANDSLIDE (Earthquake)  ➜  VERY LOW RISK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Urbanized flatland; away from Sierra Madre unstable slopes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SJDM falls in white/yellow zones across ALL FOUR hazard maps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Raw Materials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6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Industry Inputs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A.  VIRGIN / WOOD PULP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Softwood (Pine, Spruce)      — long fibers — strength for printing/writing paper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Hardwood (Eucalyptus, Birch) — short fibers — improves bulk and opacity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B.  NON-WOOD PULP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Sources: Abaca, banana, rice straw, wheat straw, bagasse, bamboo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Abaca pulp — exceptional strength; key Philippine export commodity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C.  RECYCLED WASTEPAPER  (Primary Source in Philippines)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Processed via deinking + fiber separation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Reduces waste, conserves resources, lowers GHG emissions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Supplemented by imported virgin pulp when quality demands it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Chemicals &amp; Additives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7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Key Chemicals Used in Production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PULPING CHEMICALS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Caustic Soda NaOH  — breaks down wood chips into pulp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Sodium Sulfide Na2S — Kraft cooking liquor; dissolves lignin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BLEACHING AGENTS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Chlorine Dioxide ClO2         — high-level whiteness bleaching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Hydrogen Peroxide H2O2        — eco-friendly brightening agent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Sodium Hypochlorite           — wastepaper pulp brightness improvement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Sodium Hydrosulfite           — mechanical pulp brightening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PAPERMAKING ADDITIVES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Fillers (clay, CaCO3)         — opacity, brightness, printability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Sizing agents (starch, rosin) — ink/water resistance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Retention aids, strength agents, slime control, antifoam, dyes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5 Design Constraints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8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Engineering Boundaries of the Plant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1  ENVIRONMENTAL &amp; REGULATORY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Effluent: BOD, COD, TSS, pH strictly controlled before discharge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Air: scrubbers for total reduced sulfur (TRS) and particulate matter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2  RAW MATERIAL &amp; FIBER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De-inking and contaminant-removal systems for recycled fiber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Large chip/bale storage areas for uninterrupted supply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3  ENERGY &amp; UTILITY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Co-generation (CHP) target — plant aims to be energy self-sufficient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4  TECHNICAL &amp; PROCESS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Kraft pulping + ECF/TCF bleaching (no elemental chlorine)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Duplex stainless steel / titanium for corrosion resistance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5  SITE &amp; GEOGRAPHICAL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Near water source for intake/discharge; proximity to ports &amp; highways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Process Flow Diagram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9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End-to-End Manufacturing Process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RAW MATERIAL PREPARATION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Debarking  ➜  Log Cutting  ➜  Chipping  ➜  Screening  ➜  Storage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↓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PULPING  (choose method based on raw material)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Chemical Pulping (Kraft)  |  Mechanical Pulping  |  Wastepaper Pulping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↓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WASHING  ➜  SCREENING  ➜  CLEANING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↓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BLEACHING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↓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STOCK / PULP PREPARATION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Beating  ➜  Blending  ➜  Fillers + Sizing + Chemicals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↓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PAPERMAKING STAGE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Headbox ➜ Wire ➜ Press ➜ Dryer ➜ Size Press ➜ Calendar ➜ Reel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↓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FINISHED PRODUCT  (Jumbo rolls, trimmed, shipped)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Pulping Methods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10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Three Methods Used in the Plant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METHOD 1 — CHEMICAL PULPING (KRAFT PROCESS)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Wood chips + White Liquor (NaOH + Na2S) in digester at ~160°C / 10 atm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Cellulose fibers separated from lignin; black liquor → recovery boiler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METHOD 2 — MECHANICAL PULPING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Twin rotating disk refiner physically grinds chips into fibers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Higher yield, lower strength; retains most lignin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Bleached with sodium hydrosulfite or hydrogen peroxide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METHOD 3 — WASTEPAPER PULPING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Hydrapulper: 3–5% concentration, 30–60 min mechanical agitation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Foreign objects removed by screens and cleaners (cleaners, reject separator)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Deinking: ink removed using alkali + surface-active agents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Bleaching to achieve 55–75% target brightness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Stock Preparation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11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Preparing Pulp Before Papermaking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1.  BEATING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Disk refiner swells fibers; improves flexibility and surface area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More inter-fiber bonding points = stronger sheet formation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2.  BLENDING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Recycles broke (trim and defective paper from production)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Blends raw materials + recovered white water from wire section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3.  ADDITION OF FILLERS, SIZING AGENTS &amp; CHEMICALS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Fillers (clay, CaCO3)     — opacity, brightness, smoothness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Sizing agents (starch)    — ink and water resistance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Retention aids            — reduce fiber loss in wire section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Strengthening agents      — improve wet and dry sheet strength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Slime control / antifoaming / dyes — added as process requires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Papermaking Stage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12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From Pulp Slurry to Finished Paper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1.  HEADBOX       — distributes fiber-water slurry uniformly across wire width</a:t>
            </a:r>
          </a:p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2.  WIRE SECTION  — fibers settle into mat; water drains away; sheet forms</a:t>
            </a:r>
          </a:p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3.  PRESS SECTION — rollers + felt cloth; mechanical dewatering;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increases strength and improves surface quality</a:t>
            </a:r>
          </a:p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4.  DRYER SECTION — steam-heated cylinders; reduces moisture to 6–10%</a:t>
            </a:r>
          </a:p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5.  SIZE PRESS    — applies starch for water resistance + surface strength</a:t>
            </a:r>
          </a:p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6.  CALENDERING   — steel roller stack; smooths surface, adds gloss,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ensures uniform sheet thickness</a:t>
            </a:r>
          </a:p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7.  POPE REEL     — winds paper into large jumbo rolls</a:t>
            </a:r>
          </a:p>
          <a:p>
            <a:pPr algn="l" marL="101600" indent="0">
              <a:buNone/>
              <a:spcBef>
                <a:spcPts val="150"/>
              </a:spcBef>
            </a:pPr>
            <a:r>
              <a:rPr lang="en-US" dirty="0">
                <a:solidFill>
                  <a:srgbClr val="0D7377"/>
                </a:solidFill>
                <a:latin typeface="Calibri"/>
                <a:sz val="1500"/>
                <a:b/>
              </a:rPr>
              <a:t>8.  REWINDER      — trims and cuts jumbo rolls to sellable widths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removes defective sections; final product shipped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Key Equipment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13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Major Machinery &amp; Specifications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RAW MATERIAL HANDLING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Roller Wood Debarker     5–18 T/H  |  95% peeling rate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Bale Breaker             100–900 TPD  |  Dual motor drive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Round Silo Chip Storage  Up to 42 m diameter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PULPING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Hydrapulper              1–102 m³  |  Concentration 2–15%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Displacement Pulp Digester  110–400 m³  |  0.9–1.2 MPa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Double Disc Refiner (PM20)  Max motor 315–1,800 kW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Flotation Deinking Cell  Ink removal rate 0.25–0.3; 15–150 T/D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PAPERMAKING MACHINE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Headbox / Wire / Press / Dryer / Size Press / Calendar / Reel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Trim width: up to 6,600 mm  |  Speed: up to 2,200 m/min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Capacity: up to 1,000 TPD  |  GSM range: 13–500 g/m²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Manpower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14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80 Total Personnel — Priority Hiring from SJDM &amp; Bulacan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Top Management ................  4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Supply Chain &amp; Logistics ......  11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Operating Personnel (Mill) ....  19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Quality Control &amp; Assurance ...  4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Maintenance &amp; Engineering .....  8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Packaging .....................  9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EHS &amp; Security ................  6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Sales &amp; Marketing .............  7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Human Resource Administration .  7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Finance &amp; Accounting ..........  5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5D6D7E"/>
                </a:solidFill>
                <a:latin typeface="Calibri"/>
                <a:sz val="900"/>
              </a:rPr>
              <a:t>──────────────────────────────────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TOTAL .........................  80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Industry Context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15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Existing Major Paper Mills — Central Luzon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United Pulp &amp; Paper Corp.          Calumpit, Bulacan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Products: Corrugating medium, test liner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Capacity: 230,000 MT / year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Trust International Paper Corp.    Mabalacat, Pampanga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Products: Newsprint, printing &amp; writing paper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Capacity: 230,000 MT / year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Bataan 2020 Inc.                   Samal, Bataan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Products: Printing/writing, newsprint, tissue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Capacity: 73,000 MT / year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Container Corp. of the Philippines  Quezon City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Products: Corrugating medium, chipboard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Capacity: 89,000 MT / year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SJDM sits at the center of this cluster — shared labor, suppliers &amp; logistics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Design Computations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16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Key Calculations Summary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MASS BALANCE  (Target: 1,200 kg finished paper / hour)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Dry fiber required       ~1,333 kg / hr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Process water required   ~25,333 kg / hr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Total pulp slurry input  ~26,667 kg / hr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Water evaporated at dryer  1,800 kg / hr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PAPERMAKING MACHINE PARAMETERS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Machine speed: 200 m/min  |  Deckle: 3.2 m  |  GSM: 50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Final dryness: 95%  |  Dryer inlet dryness: 38%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Wire length: ~27.09 m  |  Size press: max 250 rpm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PIPING MATERIAL SELECTION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Kraft / Sulfite pulp         ➜  Copper pipe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Mechanical / Groundwood      ➜  PVC pipe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Long-fiber kraft (never dried) ➜  Stainless Steel / PVC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Soda pulp                    ➜  Steel pipe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Conclusion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17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Summary of Key Findings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✔  Location: SJDM, Bulacan — strategic, low-hazard, logistically superior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✔  Raw Material: Recycled wastepaper (primary) + imported virgin pulp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✔  Three Pulping Methods: Kraft Chemical, Mechanical, Wastepaper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✔  Five Design Constraints fully addressed: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Environmental, Raw Material, Energy, Technical, Site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✔  Total Workforce: 80 personnel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Priority hiring: local community of SJDM and Bulacan Province</a:t>
            </a:r>
          </a:p>
          <a:p>
            <a:pPr algn="l" marL="304800" indent="0">
              <a:buNone/>
              <a:spcBef>
                <a:spcPts val="5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✔  Natural hazard safe: flood, storm surge, liquefaction, landslide</a:t>
            </a:r>
          </a:p>
          <a:p>
            <a:pPr algn="l" marL="0" indent="0">
              <a:buNone/>
            </a:pPr>
            <a:r>
              <a:rPr lang="en-US" dirty="0">
                <a:solidFill>
                  <a:srgbClr val="2C3E50"/>
                </a:solidFill>
                <a:latin typeface="Calibri"/>
                <a:sz val="700"/>
              </a:rPr>
              <a:t> 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OUR VISION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To be the premier, most technologically advanced, and environmentally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REMARKABLE pulp and paper mill in Southeast Asia.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0"/>
            <a:ext cx="12192000" cy="863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863600"/>
            <a:ext cx="121920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939800"/>
            <a:ext cx="12192000" cy="355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1447800"/>
            <a:ext cx="127000" cy="50038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0" y="6553200"/>
            <a:ext cx="12192000" cy="304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127000"/>
            <a:ext cx="106426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2800"/>
                <a:b/>
              </a:rPr>
              <a:t>References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11074400" y="127000"/>
            <a:ext cx="1016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r" marL="0" indent="0">
              <a:buNone/>
            </a:pPr>
            <a:r>
              <a:rPr lang="en-US" dirty="0">
                <a:solidFill>
                  <a:srgbClr val="F5A623"/>
                </a:solidFill>
                <a:latin typeface="Calibri"/>
                <a:sz val="1300"/>
                <a:b/>
              </a:rPr>
              <a:t>18 / 18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990600"/>
            <a:ext cx="113792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/>
                <a:sz val="1300"/>
              </a:rPr>
              <a:t>Sources &amp; Citations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330200" y="1574800"/>
            <a:ext cx="11709400" cy="4876800"/>
          </a:xfrm>
          <a:prstGeom prst="rect">
            <a:avLst/>
          </a:prstGeom>
          <a:noFill/>
          <a:ln>
            <a:noFill/>
          </a:ln>
        </p:spPr>
        <p:txBody>
          <a:bodyPr wrap="square" anchor="t" lIns="76200" rIns="0" tIns="50800" bIns="0"/>
          <a:lstStyle/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AGICO Paper. (n.d.). Pulp mill machinery &amp; paper making equipment.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https://agicopaper.com/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Andritz. (n.d.). KPR paper capabilities brochure.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Bureau of Energy Efficiency. (n.d.). Best practice manual: Fluid piping systems.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Golden Paper Group. (n.d.). Raw materials for paper making guide.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Paper Mill Machine. (n.d.). Pulp mill section equipment catalogue.</a:t>
            </a:r>
          </a:p>
          <a:p>
            <a:pPr algn="l" marL="508000" indent="0">
              <a:buNone/>
              <a:spcBef>
                <a:spcPts val="30"/>
              </a:spcBef>
            </a:pPr>
            <a:r>
              <a:rPr lang="en-US" dirty="0">
                <a:solidFill>
                  <a:srgbClr val="5D6D7E"/>
                </a:solidFill>
                <a:latin typeface="Calibri"/>
                <a:sz val="1300"/>
              </a:rPr>
              <a:t>https://papermillmachine.com/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Provincial Government of Bulacan. (2010). PDPFP 2010–2030.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Sarkar, S. (n.d.). Headbox calculations. Scribd.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DAV University. (n.d.). MEC250-POM: Plant location and layout.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JSS College of Arts. (2023). Department file — Paper Industry Overview.</a:t>
            </a:r>
          </a:p>
          <a:p>
            <a:pPr algn="l" marL="101600" indent="0">
              <a:buNone/>
              <a:spcBef>
                <a:spcPts val="60"/>
              </a:spcBef>
            </a:pPr>
            <a:r>
              <a:rPr lang="en-US" dirty="0">
                <a:solidFill>
                  <a:srgbClr val="2C3E50"/>
                </a:solidFill>
                <a:latin typeface="Calibri"/>
                <a:sz val="1400"/>
              </a:rPr>
              <a:t>Landmark University. (n.d.). GEC524: Plant Layout.</a:t>
            </a:r>
          </a:p>
        </p:txBody>
      </p:sp>
      <p:sp>
        <p:nvSpPr>
          <p:cNvPr id="0" name=""/>
          <p:cNvSpPr>
            <a:spLocks noGrp="1"/>
          </p:cNvSpPr>
          <p:nvPr/>
        </p:nvSpPr>
        <p:spPr>
          <a:xfrm>
            <a:off x="406400" y="6604000"/>
            <a:ext cx="11379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101600" rIns="0" tIns="0" bIns="0"/>
          <a:lstStyle/>
          <a:p>
            <a:pPr algn="l" marL="0" indent="0">
              <a:buNone/>
            </a:pPr>
            <a:r>
              <a:rPr lang="en-US" dirty="0">
                <a:solidFill>
                  <a:srgbClr val="D6E8F5"/>
                </a:solidFill>
                <a:latin typeface="Calibri"/>
                <a:sz val="1000"/>
              </a:rPr>
              <a:t>REAM-R-KABLE FIBERS  |  Paper and Pulp Industry  |  BSME 4A  |  A.Y. 2025–2026</a:t>
            </a:r>
          </a:p>
        </p:txBody>
      </p:sp>
    </p:spTree>
  </p:cSld>
</p:sld>
</file>