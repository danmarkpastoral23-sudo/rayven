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5143500" type="screen16x9"/>
  <p:notesSz cx="5143500" cy="9144000"/>
</p:presentation>
</file>

<file path=ppt/_rels/presentation.xml.rels><?xml version="1.0" encoding="UTF-8" standalone="yes"?>
<Relationships xmlns="http://schemas.openxmlformats.org/package/2006/relationships">
  <Relationship Id="rId0" Type="http://schemas.openxmlformats.org/officeDocument/2006/relationships/slideMaster" Target="slideMasters/slideMaster1.xml"/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  <Relationship Id="rId14" Type="http://schemas.openxmlformats.org/officeDocument/2006/relationships/slide" Target="slides/slide14.xml"/>
  <Relationship Id="rId15" Type="http://schemas.openxmlformats.org/officeDocument/2006/relationships/slide" Target="slides/slide15.xml"/>
  <Relationship Id="rId16" Type="http://schemas.openxmlformats.org/officeDocument/2006/relationships/slide" Target="slides/slide16.xml"/>
  <Relationship Id="rId17" Type="http://schemas.openxmlformats.org/officeDocument/2006/relationships/slide" Target="slides/slide17.xml"/>
  <Relationship Id="rId18" Type="http://schemas.openxmlformats.org/officeDocument/2006/relationships/slide" Target="slides/slide18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REAM-R-KABLE FIBERS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1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PAPER AND PULP INDUSTRY</a:t>
            </a:r>
          </a:p>
          <a:p>
            <a:pPr marL="0" indent="0">
      </a:pPr>
            <a:r>
              <a:rPr lang="en-US" dirty="0">
                <a:sz val="1500"/>
              </a:rPr>
              <a:t>Industrial Plant Engineering (PROFME 105)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Prepared by: DELA CRUZ, JHAN RAYVEN D. | BSME 4A</a:t>
            </a:r>
          </a:p>
          <a:p>
            <a:pPr marL="0" indent="0">
      </a:pPr>
            <a:r>
              <a:rPr lang="en-US" dirty="0">
                <a:sz val="1500"/>
              </a:rPr>
              <a:t>Submitted to: ENGR. MARFEL D. ROSARIO</a:t>
            </a:r>
          </a:p>
          <a:p>
            <a:pPr marL="0" indent="0">
      </a:pPr>
            <a:r>
              <a:rPr lang="en-US" dirty="0">
                <a:sz val="1500"/>
              </a:rPr>
              <a:t>Pangasinan State University — Urdaneta City Campus</a:t>
            </a:r>
          </a:p>
          <a:p>
            <a:pPr marL="0" indent="0">
      </a:pPr>
            <a:r>
              <a:rPr lang="en-US" dirty="0">
                <a:sz val="1500"/>
              </a:rPr>
              <a:t>College of Engineering and Architecture</a:t>
            </a:r>
          </a:p>
          <a:p>
            <a:pPr marL="0" indent="0">
      </a:pPr>
            <a:r>
              <a:rPr lang="en-US" dirty="0">
                <a:sz val="1500"/>
              </a:rPr>
              <a:t>A.Y. 2025–2026 | May 2026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Company Profile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2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Company: REAM-R-KABLE FIBERS</a:t>
            </a:r>
          </a:p>
          <a:p>
            <a:pPr marL="0" indent="0">
      </a:pPr>
            <a:r>
              <a:rPr lang="en-US" dirty="0">
                <a:sz val="1500"/>
              </a:rPr>
              <a:t>Location: Barangay Ciudad Real, San Jose del Monte, Bulacan</a:t>
            </a:r>
          </a:p>
          <a:p>
            <a:pPr marL="0" indent="0">
      </a:pPr>
            <a:r>
              <a:rPr lang="en-US" dirty="0">
                <a:sz val="1500"/>
              </a:rPr>
              <a:t>"REAM" = unit of paper + "FIBER" = foundation of our product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VISION: Premier, most technologically advanced and environmentally</a:t>
            </a:r>
          </a:p>
          <a:p>
            <a:pPr marL="0" indent="0">
      </a:pPr>
            <a:r>
              <a:rPr lang="en-US" dirty="0">
                <a:sz val="1500"/>
              </a:rPr>
              <a:t>remarkable pulp and paper mill in Southeast Asia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MISSION:</a:t>
            </a:r>
          </a:p>
          <a:p>
            <a:pPr marL="228600" indent="0">
      </a:pPr>
            <a:r>
              <a:rPr lang="en-US" dirty="0">
                <a:sz val="1500"/>
              </a:rPr>
              <a:t>• Deliver Excellence — high-grade paper exceeding global standards</a:t>
            </a:r>
          </a:p>
          <a:p>
            <a:pPr marL="228600" indent="0">
      </a:pPr>
            <a:r>
              <a:rPr lang="en-US" dirty="0">
                <a:sz val="1500"/>
              </a:rPr>
              <a:t>• Champion Sustainability — water recycling; wastepaper as raw material</a:t>
            </a:r>
          </a:p>
          <a:p>
            <a:pPr marL="228600" indent="0">
      </a:pPr>
            <a:r>
              <a:rPr lang="en-US" dirty="0">
                <a:sz val="1500"/>
              </a:rPr>
              <a:t>• Empower Community — high-value jobs in Bulacan</a:t>
            </a:r>
          </a:p>
          <a:p>
            <a:pPr marL="228600" indent="0">
      </a:pPr>
            <a:r>
              <a:rPr lang="en-US" dirty="0">
                <a:sz val="1500"/>
              </a:rPr>
              <a:t>• Drive Innovation — modern engineering in pulping and refining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Introduction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3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PAPER — from wood fibers reduced to pulp, formed, compressed, dried</a:t>
            </a:r>
          </a:p>
          <a:p>
            <a:pPr marL="0" indent="0">
      </a:pPr>
            <a:r>
              <a:rPr lang="en-US" dirty="0">
                <a:sz val="1500"/>
              </a:rPr>
              <a:t>PULP — fibrous material from wood/non-wood (cotton, bagasse, rice straw)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Paper Grades:</a:t>
            </a:r>
          </a:p>
          <a:p>
            <a:pPr marL="228600" indent="0">
      </a:pPr>
            <a:r>
              <a:rPr lang="en-US" dirty="0">
                <a:sz val="1500"/>
              </a:rPr>
              <a:t>• Printing &amp; Writing (bond paper, notebooks)</a:t>
            </a:r>
          </a:p>
          <a:p>
            <a:pPr marL="228600" indent="0">
      </a:pPr>
            <a:r>
              <a:rPr lang="en-US" dirty="0">
                <a:sz val="1500"/>
              </a:rPr>
              <a:t>• Newsprint (newspapers)</a:t>
            </a:r>
          </a:p>
          <a:p>
            <a:pPr marL="228600" indent="0">
      </a:pPr>
            <a:r>
              <a:rPr lang="en-US" dirty="0">
                <a:sz val="1500"/>
              </a:rPr>
              <a:t>• Corrugating / Containerboard (linerboard, fluting)</a:t>
            </a:r>
          </a:p>
          <a:p>
            <a:pPr marL="228600" indent="0">
      </a:pPr>
            <a:r>
              <a:rPr lang="en-US" dirty="0">
                <a:sz val="1500"/>
              </a:rPr>
              <a:t>• Tissue &amp; Sanitary Papers</a:t>
            </a:r>
          </a:p>
          <a:p>
            <a:pPr marL="228600" indent="0">
      </a:pPr>
            <a:r>
              <a:rPr lang="en-US" dirty="0">
                <a:sz val="1500"/>
              </a:rPr>
              <a:t>• Specialty (art paper, construction board)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Philippine Context:</a:t>
            </a:r>
          </a:p>
          <a:p>
            <a:pPr marL="228600" indent="0">
      </a:pPr>
            <a:r>
              <a:rPr lang="en-US" dirty="0">
                <a:sz val="1500"/>
              </a:rPr>
              <a:t>• Only integrated mill (PICOP) ceased operations in 2010</a:t>
            </a:r>
          </a:p>
          <a:p>
            <a:pPr marL="228600" indent="0">
      </a:pPr>
            <a:r>
              <a:rPr lang="en-US" dirty="0">
                <a:sz val="1500"/>
              </a:rPr>
              <a:t>• Industry now relies primarily on RECYCLED WASTEPAPER</a:t>
            </a:r>
          </a:p>
          <a:p>
            <a:pPr marL="228600" indent="0">
      </a:pPr>
            <a:r>
              <a:rPr lang="en-US" dirty="0">
                <a:sz val="1500"/>
              </a:rPr>
              <a:t>• Wastepaper = 19% of total municipal solid waste in PH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Plant Location — San Jose Del Monte, Bulacan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4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SJDM: Landlocked component city, ~42 km from Metro Manila</a:t>
            </a:r>
          </a:p>
          <a:p>
            <a:pPr marL="0" indent="0">
      </a:pPr>
            <a:r>
              <a:rPr lang="en-US" dirty="0">
                <a:sz val="1500"/>
              </a:rPr>
              <a:t>3 national roads | 4 provincial roads | 402 city roads | 15 bridges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Why SJDM?</a:t>
            </a:r>
          </a:p>
          <a:p>
            <a:pPr marL="228600" indent="0">
      </a:pPr>
            <a:r>
              <a:rPr lang="en-US" dirty="0">
                <a:sz val="1500"/>
              </a:rPr>
              <a:t>• Near Metro Manila — highest density of wastepaper sources</a:t>
            </a:r>
          </a:p>
          <a:p>
            <a:pPr marL="228600" indent="0">
      </a:pPr>
            <a:r>
              <a:rPr lang="en-US" dirty="0">
                <a:sz val="1500"/>
              </a:rPr>
              <a:t>• Near Region 3 (Central Luzon) — rice straw, bagasse, bamboo</a:t>
            </a:r>
          </a:p>
          <a:p>
            <a:pPr marL="228600" indent="0">
      </a:pPr>
            <a:r>
              <a:rPr lang="en-US" dirty="0">
                <a:sz val="1500"/>
              </a:rPr>
              <a:t>• Access to NAIA, Clark, Subic airports and seaports</a:t>
            </a:r>
          </a:p>
          <a:p>
            <a:pPr marL="228600" indent="0">
      </a:pPr>
            <a:r>
              <a:rPr lang="en-US" dirty="0">
                <a:sz val="1500"/>
              </a:rPr>
              <a:t>• Part of established industrial cluster in Central Luzon</a:t>
            </a:r>
          </a:p>
          <a:p>
            <a:pPr marL="228600" indent="0">
      </a:pPr>
            <a:r>
              <a:rPr lang="en-US" dirty="0">
                <a:sz val="1500"/>
              </a:rPr>
              <a:t>• Bulacan Province total land area: 279,610 hectares</a:t>
            </a:r>
          </a:p>
          <a:p>
            <a:pPr marL="228600" indent="0">
      </a:pPr>
            <a:r>
              <a:rPr lang="en-US" dirty="0">
                <a:sz val="1500"/>
              </a:rPr>
              <a:t>• Cities: Malolos (capital), Meycauayan, SJDM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Hazard Assessment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5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Why SJDM is Safe for Industrial Use: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FLOODING       → LOW RISK</a:t>
            </a:r>
          </a:p>
          <a:p>
            <a:pPr marL="457200" indent="0">
      </a:pPr>
            <a:r>
              <a:rPr lang="en-US" dirty="0">
                <a:sz val="1400"/>
              </a:rPr>
              <a:t>Eastern location; away from coastal lowlands &amp; river systems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STORM SURGE    → NO RISK</a:t>
            </a:r>
          </a:p>
          <a:p>
            <a:pPr marL="457200" indent="0">
      </a:pPr>
            <a:r>
              <a:rPr lang="en-US" dirty="0">
                <a:sz val="1400"/>
              </a:rPr>
              <a:t>Inland position; surge confined to coastal municipalities only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LIQUEFACTION   → NO RISK</a:t>
            </a:r>
          </a:p>
          <a:p>
            <a:pPr marL="457200" indent="0">
      </a:pPr>
            <a:r>
              <a:rPr lang="en-US" dirty="0">
                <a:sz val="1400"/>
              </a:rPr>
              <a:t>Stable bedrock/thick soil — white zone on hazard map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LANDSLIDE      → VERY LOW RISK</a:t>
            </a:r>
          </a:p>
          <a:p>
            <a:pPr marL="457200" indent="0">
      </a:pPr>
            <a:r>
              <a:rPr lang="en-US" dirty="0">
                <a:sz val="1400"/>
              </a:rPr>
              <a:t>Urbanized area away from Sierra Madre unstable slopes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SJDM = white/yellow zones across ALL four hazard maps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Raw Materials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6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A. VIRGIN / WOOD PULP</a:t>
            </a:r>
          </a:p>
          <a:p>
            <a:pPr marL="457200" indent="0">
      </a:pPr>
            <a:r>
              <a:rPr lang="en-US" dirty="0">
                <a:sz val="1400"/>
              </a:rPr>
              <a:t>Softwood (Pine, Spruce) — long fibers — best for printing &amp; writing paper</a:t>
            </a:r>
          </a:p>
          <a:p>
            <a:pPr marL="457200" indent="0">
      </a:pPr>
            <a:r>
              <a:rPr lang="en-US" dirty="0">
                <a:sz val="1400"/>
              </a:rPr>
              <a:t>Hardwood (Eucalyptus, Birch) — short fibers — improves bulk &amp; opacity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B. NON-WOOD PULP</a:t>
            </a:r>
          </a:p>
          <a:p>
            <a:pPr marL="457200" indent="0">
      </a:pPr>
            <a:r>
              <a:rPr lang="en-US" dirty="0">
                <a:sz val="1400"/>
              </a:rPr>
              <a:t>Abaca, banana, rice straw, wheat straw, bagasse, bamboo</a:t>
            </a:r>
          </a:p>
          <a:p>
            <a:pPr marL="457200" indent="0">
      </a:pPr>
            <a:r>
              <a:rPr lang="en-US" dirty="0">
                <a:sz val="1400"/>
              </a:rPr>
              <a:t>Abaca pulp — exceptional strength; key PH export commodity</a:t>
            </a:r>
          </a:p>
          <a:p>
            <a:pPr marL="457200" indent="0">
      </a:pPr>
            <a:r>
              <a:rPr lang="en-US" dirty="0">
                <a:sz val="1400"/>
              </a:rPr>
              <a:t>Lower tensile strength but cost-effective and sustainable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C. RECYCLED WASTEPAPER (Primary Source in Philippines)</a:t>
            </a:r>
          </a:p>
          <a:p>
            <a:pPr marL="457200" indent="0">
      </a:pPr>
            <a:r>
              <a:rPr lang="en-US" dirty="0">
                <a:sz val="1400"/>
              </a:rPr>
              <a:t>Processed via deinking + fiber separation</a:t>
            </a:r>
          </a:p>
          <a:p>
            <a:pPr marL="457200" indent="0">
      </a:pPr>
            <a:r>
              <a:rPr lang="en-US" dirty="0">
                <a:sz val="1400"/>
              </a:rPr>
              <a:t>Reduces waste, conserves resources, lowers GHG emissions</a:t>
            </a:r>
          </a:p>
          <a:p>
            <a:pPr marL="457200" indent="0">
      </a:pPr>
            <a:r>
              <a:rPr lang="en-US" dirty="0">
                <a:sz val="1400"/>
              </a:rPr>
              <a:t>Supplemented by imported virgin pulp for quality requirements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Chemicals &amp; Additives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7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PULPING CHEMICALS:</a:t>
            </a:r>
          </a:p>
          <a:p>
            <a:pPr marL="457200" indent="0">
      </a:pPr>
            <a:r>
              <a:rPr lang="en-US" dirty="0">
                <a:sz val="1400"/>
              </a:rPr>
              <a:t>Caustic Soda (NaOH) — breaks down wood chips into pulp</a:t>
            </a:r>
          </a:p>
          <a:p>
            <a:pPr marL="457200" indent="0">
      </a:pPr>
            <a:r>
              <a:rPr lang="en-US" dirty="0">
                <a:sz val="1400"/>
              </a:rPr>
              <a:t>Sodium Sulfide (Na2S) — Kraft cooking liquor; dissolves lignin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BLEACHING AGENTS:</a:t>
            </a:r>
          </a:p>
          <a:p>
            <a:pPr marL="457200" indent="0">
      </a:pPr>
            <a:r>
              <a:rPr lang="en-US" dirty="0">
                <a:sz val="1400"/>
              </a:rPr>
              <a:t>Chlorine Dioxide (ClO2) — high-level whiteness bleaching</a:t>
            </a:r>
          </a:p>
          <a:p>
            <a:pPr marL="457200" indent="0">
      </a:pPr>
            <a:r>
              <a:rPr lang="en-US" dirty="0">
                <a:sz val="1400"/>
              </a:rPr>
              <a:t>Hydrogen Peroxide (H2O2) — eco-friendly brightening</a:t>
            </a:r>
          </a:p>
          <a:p>
            <a:pPr marL="457200" indent="0">
      </a:pPr>
            <a:r>
              <a:rPr lang="en-US" dirty="0">
                <a:sz val="1400"/>
              </a:rPr>
              <a:t>Sodium Hypochlorite — wastepaper pulp brightness improvement</a:t>
            </a:r>
          </a:p>
          <a:p>
            <a:pPr marL="457200" indent="0">
      </a:pPr>
            <a:r>
              <a:rPr lang="en-US" dirty="0">
                <a:sz val="1400"/>
              </a:rPr>
              <a:t>Sodium Hydrosulfite — mechanical pulp brightening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PAPERMAKING ADDITIVES:</a:t>
            </a:r>
          </a:p>
          <a:p>
            <a:pPr marL="457200" indent="0">
      </a:pPr>
            <a:r>
              <a:rPr lang="en-US" dirty="0">
                <a:sz val="1400"/>
              </a:rPr>
              <a:t>Fillers (clay, CaCO3) — opacity, brightness, printability</a:t>
            </a:r>
          </a:p>
          <a:p>
            <a:pPr marL="457200" indent="0">
      </a:pPr>
            <a:r>
              <a:rPr lang="en-US" dirty="0">
                <a:sz val="1400"/>
              </a:rPr>
              <a:t>Sizing agents — ink resistance, water resistance</a:t>
            </a:r>
          </a:p>
          <a:p>
            <a:pPr marL="457200" indent="0">
      </a:pPr>
            <a:r>
              <a:rPr lang="en-US" dirty="0">
                <a:sz val="1400"/>
              </a:rPr>
              <a:t>Retention aids, strength agents, slime control, antifoam, dyes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5 Design Constraints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8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1. ENVIRONMENTAL &amp; REGULATORY</a:t>
            </a:r>
          </a:p>
          <a:p>
            <a:pPr marL="457200" indent="0">
      </a:pPr>
            <a:r>
              <a:rPr lang="en-US" dirty="0">
                <a:sz val="1400"/>
              </a:rPr>
              <a:t>Effluent: control BOD, COD, TSS, pH before discharge</a:t>
            </a:r>
          </a:p>
          <a:p>
            <a:pPr marL="457200" indent="0">
      </a:pPr>
            <a:r>
              <a:rPr lang="en-US" dirty="0">
                <a:sz val="1400"/>
              </a:rPr>
              <a:t>Air: scrubbers for sulfur compounds &amp; particulate matter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2. RAW MATERIAL &amp; FIBER</a:t>
            </a:r>
          </a:p>
          <a:p>
            <a:pPr marL="457200" indent="0">
      </a:pPr>
            <a:r>
              <a:rPr lang="en-US" dirty="0">
                <a:sz val="1400"/>
              </a:rPr>
              <a:t>De-inking &amp; contaminant-removal for recycled fiber</a:t>
            </a:r>
          </a:p>
          <a:p>
            <a:pPr marL="457200" indent="0">
      </a:pPr>
            <a:r>
              <a:rPr lang="en-US" dirty="0">
                <a:sz val="1400"/>
              </a:rPr>
              <a:t>Large chip storage for continuous supply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3. ENERGY &amp; UTILITY</a:t>
            </a:r>
          </a:p>
          <a:p>
            <a:pPr marL="457200" indent="0">
      </a:pPr>
            <a:r>
              <a:rPr lang="en-US" dirty="0">
                <a:sz val="1400"/>
              </a:rPr>
              <a:t>Co-generation (CHP) target — energy self-sufficient plant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4. TECHNICAL &amp; PROCESS</a:t>
            </a:r>
          </a:p>
          <a:p>
            <a:pPr marL="457200" indent="0">
      </a:pPr>
            <a:r>
              <a:rPr lang="en-US" dirty="0">
                <a:sz val="1400"/>
              </a:rPr>
              <a:t>Kraft pulping + ECF/TCF bleaching (no elemental chlorine)</a:t>
            </a:r>
          </a:p>
          <a:p>
            <a:pPr marL="457200" indent="0">
      </a:pPr>
            <a:r>
              <a:rPr lang="en-US" dirty="0">
                <a:sz val="1400"/>
              </a:rPr>
              <a:t>Duplex stainless steel / titanium for corrosion resistance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5. SITE &amp; GEOGRAPHICAL</a:t>
            </a:r>
          </a:p>
          <a:p>
            <a:pPr marL="457200" indent="0">
      </a:pPr>
            <a:r>
              <a:rPr lang="en-US" dirty="0">
                <a:sz val="1400"/>
              </a:rPr>
              <a:t>Near water source; proximity to ports and highways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Process Flow Diagram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9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RAW MATERIAL PREPARATION</a:t>
            </a:r>
          </a:p>
          <a:p>
            <a:pPr marL="457200" indent="0">
      </a:pPr>
            <a:r>
              <a:rPr lang="en-US" dirty="0">
                <a:sz val="1400"/>
              </a:rPr>
              <a:t>Debarking → Log Cutting → Chipping → Screening → Storage</a:t>
            </a:r>
          </a:p>
          <a:p>
            <a:pPr marL="457200" indent="0">
      </a:pPr>
            <a:r>
              <a:rPr lang="en-US" dirty="0">
                <a:sz val="1400"/>
              </a:rPr>
              <a:t>↓</a:t>
            </a:r>
          </a:p>
          <a:p>
            <a:pPr marL="0" indent="0">
      </a:pPr>
            <a:r>
              <a:rPr lang="en-US" dirty="0">
                <a:sz val="1500"/>
              </a:rPr>
              <a:t>PULPING</a:t>
            </a:r>
          </a:p>
          <a:p>
            <a:pPr marL="457200" indent="0">
      </a:pPr>
            <a:r>
              <a:rPr lang="en-US" dirty="0">
                <a:sz val="1400"/>
              </a:rPr>
              <a:t>Chemical Pulping (Kraft) | Mechanical Pulping | Wastepaper Pulping</a:t>
            </a:r>
          </a:p>
          <a:p>
            <a:pPr marL="457200" indent="0">
      </a:pPr>
            <a:r>
              <a:rPr lang="en-US" dirty="0">
                <a:sz val="1400"/>
              </a:rPr>
              <a:t>↓</a:t>
            </a:r>
          </a:p>
          <a:p>
            <a:pPr marL="0" indent="0">
      </a:pPr>
            <a:r>
              <a:rPr lang="en-US" dirty="0">
                <a:sz val="1500"/>
              </a:rPr>
              <a:t>WASHING, SCREENING &amp; CLEANING</a:t>
            </a:r>
          </a:p>
          <a:p>
            <a:pPr marL="457200" indent="0">
      </a:pPr>
            <a:r>
              <a:rPr lang="en-US" dirty="0">
                <a:sz val="1400"/>
              </a:rPr>
              <a:t>↓</a:t>
            </a:r>
          </a:p>
          <a:p>
            <a:pPr marL="0" indent="0">
      </a:pPr>
            <a:r>
              <a:rPr lang="en-US" dirty="0">
                <a:sz val="1500"/>
              </a:rPr>
              <a:t>BLEACHING</a:t>
            </a:r>
          </a:p>
          <a:p>
            <a:pPr marL="457200" indent="0">
      </a:pPr>
            <a:r>
              <a:rPr lang="en-US" dirty="0">
                <a:sz val="1400"/>
              </a:rPr>
              <a:t>↓</a:t>
            </a:r>
          </a:p>
          <a:p>
            <a:pPr marL="0" indent="0">
      </a:pPr>
            <a:r>
              <a:rPr lang="en-US" dirty="0">
                <a:sz val="1500"/>
              </a:rPr>
              <a:t>STOCK / PULP PREPARATION</a:t>
            </a:r>
          </a:p>
          <a:p>
            <a:pPr marL="457200" indent="0">
      </a:pPr>
            <a:r>
              <a:rPr lang="en-US" dirty="0">
                <a:sz val="1400"/>
              </a:rPr>
              <a:t>Beating → Blending → Fillers + Sizing + Chemicals</a:t>
            </a:r>
          </a:p>
          <a:p>
            <a:pPr marL="457200" indent="0">
      </a:pPr>
            <a:r>
              <a:rPr lang="en-US" dirty="0">
                <a:sz val="1400"/>
              </a:rPr>
              <a:t>↓</a:t>
            </a:r>
          </a:p>
          <a:p>
            <a:pPr marL="0" indent="0">
      </a:pPr>
            <a:r>
              <a:rPr lang="en-US" dirty="0">
                <a:sz val="1500"/>
              </a:rPr>
              <a:t>PAPERMAKING STAGE</a:t>
            </a:r>
          </a:p>
          <a:p>
            <a:pPr marL="457200" indent="0">
      </a:pPr>
            <a:r>
              <a:rPr lang="en-US" dirty="0">
                <a:sz val="1400"/>
              </a:rPr>
              <a:t>Headbox→Wire→Press→Dryer→Size Press→Calendar→Reel</a:t>
            </a:r>
          </a:p>
          <a:p>
            <a:pPr marL="457200" indent="0">
      </a:pPr>
            <a:r>
              <a:rPr lang="en-US" dirty="0">
                <a:sz val="1400"/>
              </a:rPr>
              <a:t>↓</a:t>
            </a:r>
          </a:p>
          <a:p>
            <a:pPr marL="0" indent="0">
      </a:pPr>
            <a:r>
              <a:rPr lang="en-US" dirty="0">
                <a:sz val="1500"/>
              </a:rPr>
              <a:t>FINISHED PRODUCT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Pulping Methods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10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METHOD 1 — CHEMICAL PULPING (KRAFT PROCESS)</a:t>
            </a:r>
          </a:p>
          <a:p>
            <a:pPr marL="457200" indent="0">
      </a:pPr>
            <a:r>
              <a:rPr lang="en-US" dirty="0">
                <a:sz val="1400"/>
              </a:rPr>
              <a:t>Wood chips + White Liquor (NaOH + Na2S) in digester</a:t>
            </a:r>
          </a:p>
          <a:p>
            <a:pPr marL="457200" indent="0">
      </a:pPr>
            <a:r>
              <a:rPr lang="en-US" dirty="0">
                <a:sz val="1400"/>
              </a:rPr>
              <a:t>~160°C, 10 atm → cellulose fibers separated from lignin</a:t>
            </a:r>
          </a:p>
          <a:p>
            <a:pPr marL="457200" indent="0">
      </a:pPr>
            <a:r>
              <a:rPr lang="en-US" dirty="0">
                <a:sz val="1400"/>
              </a:rPr>
              <a:t>Black liquor → recovery boiler → energy + chemical recycling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METHOD 2 — MECHANICAL PULPING</a:t>
            </a:r>
          </a:p>
          <a:p>
            <a:pPr marL="457200" indent="0">
      </a:pPr>
            <a:r>
              <a:rPr lang="en-US" dirty="0">
                <a:sz val="1400"/>
              </a:rPr>
              <a:t>Twin rotating disk refiner physically grinds chips into fibers</a:t>
            </a:r>
          </a:p>
          <a:p>
            <a:pPr marL="457200" indent="0">
      </a:pPr>
            <a:r>
              <a:rPr lang="en-US" dirty="0">
                <a:sz val="1400"/>
              </a:rPr>
              <a:t>Higher yield, lower strength; retains most lignin</a:t>
            </a:r>
          </a:p>
          <a:p>
            <a:pPr marL="457200" indent="0">
      </a:pPr>
            <a:r>
              <a:rPr lang="en-US" dirty="0">
                <a:sz val="1400"/>
              </a:rPr>
              <a:t>Bleached with sodium hydrosulfite or hydrogen peroxide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METHOD 3 — WASTEPAPER PULPING</a:t>
            </a:r>
          </a:p>
          <a:p>
            <a:pPr marL="457200" indent="0">
      </a:pPr>
            <a:r>
              <a:rPr lang="en-US" dirty="0">
                <a:sz val="1400"/>
              </a:rPr>
              <a:t>Hydrapulper: 3–5% concentration, 30–60 min agitation</a:t>
            </a:r>
          </a:p>
          <a:p>
            <a:pPr marL="457200" indent="0">
      </a:pPr>
            <a:r>
              <a:rPr lang="en-US" dirty="0">
                <a:sz val="1400"/>
              </a:rPr>
              <a:t>Foreign objects removed by screens and cleaners</a:t>
            </a:r>
          </a:p>
          <a:p>
            <a:pPr marL="457200" indent="0">
      </a:pPr>
            <a:r>
              <a:rPr lang="en-US" dirty="0">
                <a:sz val="1400"/>
              </a:rPr>
              <a:t>Deinking: ink removed with alkali + surface-active agents</a:t>
            </a:r>
          </a:p>
          <a:p>
            <a:pPr marL="457200" indent="0">
      </a:pPr>
            <a:r>
              <a:rPr lang="en-US" dirty="0">
                <a:sz val="1400"/>
              </a:rPr>
              <a:t>Bleaching to achieve 55–75% brightness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Stock Preparation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11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1. BEATING</a:t>
            </a:r>
          </a:p>
          <a:p>
            <a:pPr marL="457200" indent="0">
      </a:pPr>
            <a:r>
              <a:rPr lang="en-US" dirty="0">
                <a:sz val="1400"/>
              </a:rPr>
              <a:t>Disk refiner swells fibers; improves flexibility &amp; surface area</a:t>
            </a:r>
          </a:p>
          <a:p>
            <a:pPr marL="457200" indent="0">
      </a:pPr>
            <a:r>
              <a:rPr lang="en-US" dirty="0">
                <a:sz val="1400"/>
              </a:rPr>
              <a:t>More bonding points → stronger sheet formation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2. BLENDING</a:t>
            </a:r>
          </a:p>
          <a:p>
            <a:pPr marL="457200" indent="0">
      </a:pPr>
            <a:r>
              <a:rPr lang="en-US" dirty="0">
                <a:sz val="1400"/>
              </a:rPr>
              <a:t>Recycles broke (trim/defective paper from production)</a:t>
            </a:r>
          </a:p>
          <a:p>
            <a:pPr marL="457200" indent="0">
      </a:pPr>
            <a:r>
              <a:rPr lang="en-US" dirty="0">
                <a:sz val="1400"/>
              </a:rPr>
              <a:t>Blends raw materials + recovered white water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3. ADDITION OF FILLERS, SIZING AGENTS &amp; CHEMICALS</a:t>
            </a:r>
          </a:p>
          <a:p>
            <a:pPr marL="457200" indent="0">
      </a:pPr>
            <a:r>
              <a:rPr lang="en-US" dirty="0">
                <a:sz val="1400"/>
              </a:rPr>
              <a:t>Fillers (clay, CaCO3) → opacity, brightness, smoothness</a:t>
            </a:r>
          </a:p>
          <a:p>
            <a:pPr marL="457200" indent="0">
      </a:pPr>
            <a:r>
              <a:rPr lang="en-US" dirty="0">
                <a:sz val="1400"/>
              </a:rPr>
              <a:t>Sizing agents (starch, rosin) → ink/water resistance</a:t>
            </a:r>
          </a:p>
          <a:p>
            <a:pPr marL="457200" indent="0">
      </a:pPr>
            <a:r>
              <a:rPr lang="en-US" dirty="0">
                <a:sz val="1400"/>
              </a:rPr>
              <a:t>Retention aids → reduce fiber loss in wire section</a:t>
            </a:r>
          </a:p>
          <a:p>
            <a:pPr marL="457200" indent="0">
      </a:pPr>
            <a:r>
              <a:rPr lang="en-US" dirty="0">
                <a:sz val="1400"/>
              </a:rPr>
              <a:t>Strengthening agents → improve sheet strength</a:t>
            </a:r>
          </a:p>
          <a:p>
            <a:pPr marL="457200" indent="0">
      </a:pPr>
            <a:r>
              <a:rPr lang="en-US" dirty="0">
                <a:sz val="1400"/>
              </a:rPr>
              <a:t>Slime control agents, antifoaming agents, dyes → as needed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Papermaking Stage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12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1. HEADBOX — distributes fiber-water slurry across wire width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2. WIRE SECTION — fibers settle into mat; water drains away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3. PRESS SECTION — rollers + felt cloth; mechanical dewatering</a:t>
            </a:r>
          </a:p>
          <a:p>
            <a:pPr marL="457200" indent="0">
      </a:pPr>
            <a:r>
              <a:rPr lang="en-US" dirty="0">
                <a:sz val="1400"/>
              </a:rPr>
              <a:t>increases strength, improves surface quality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4. DRYER SECTION — steam-heated cylinders; dries to 6–10% moisture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5. SIZE PRESS — applies starch; water resistance + surface strength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6. CALENDERING — steel roller stack; smooths, glosses,</a:t>
            </a:r>
          </a:p>
          <a:p>
            <a:pPr marL="457200" indent="0">
      </a:pPr>
            <a:r>
              <a:rPr lang="en-US" dirty="0">
                <a:sz val="1400"/>
              </a:rPr>
              <a:t>ensures uniform thickness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7. POPE REEL + REWINDER — winds into jumbo rolls;</a:t>
            </a:r>
          </a:p>
          <a:p>
            <a:pPr marL="457200" indent="0">
      </a:pPr>
            <a:r>
              <a:rPr lang="en-US" dirty="0">
                <a:sz val="1400"/>
              </a:rPr>
              <a:t>trimmed to sellable widths; shipped as finished product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Key Equipment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13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RAW MATERIAL HANDLING:</a:t>
            </a:r>
          </a:p>
          <a:p>
            <a:pPr marL="457200" indent="0">
      </a:pPr>
            <a:r>
              <a:rPr lang="en-US" dirty="0">
                <a:sz val="1400"/>
              </a:rPr>
              <a:t>Roller Wood Debarker — 5–18 T/H, 95% peeling rate</a:t>
            </a:r>
          </a:p>
          <a:p>
            <a:pPr marL="457200" indent="0">
      </a:pPr>
            <a:r>
              <a:rPr lang="en-US" dirty="0">
                <a:sz val="1400"/>
              </a:rPr>
              <a:t>Wood Chipper — uniform chip production</a:t>
            </a:r>
          </a:p>
          <a:p>
            <a:pPr marL="457200" indent="0">
      </a:pPr>
            <a:r>
              <a:rPr lang="en-US" dirty="0">
                <a:sz val="1400"/>
              </a:rPr>
              <a:t>Bale Breaker — 100–900 TPD, dual motor drive</a:t>
            </a:r>
          </a:p>
          <a:p>
            <a:pPr marL="457200" indent="0">
      </a:pPr>
            <a:r>
              <a:rPr lang="en-US" dirty="0">
                <a:sz val="1400"/>
              </a:rPr>
              <a:t>Round Silo Storage — up to 42m diameter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PULPING:</a:t>
            </a:r>
          </a:p>
          <a:p>
            <a:pPr marL="457200" indent="0">
      </a:pPr>
            <a:r>
              <a:rPr lang="en-US" dirty="0">
                <a:sz val="1400"/>
              </a:rPr>
              <a:t>Hydrapulper — 1–102 m3, concentration 2–15%</a:t>
            </a:r>
          </a:p>
          <a:p>
            <a:pPr marL="457200" indent="0">
      </a:pPr>
            <a:r>
              <a:rPr lang="en-US" dirty="0">
                <a:sz val="1400"/>
              </a:rPr>
              <a:t>Displacement Pulp Digester — 110–400 m3, 0.9–1.2 MPa</a:t>
            </a:r>
          </a:p>
          <a:p>
            <a:pPr marL="457200" indent="0">
      </a:pPr>
            <a:r>
              <a:rPr lang="en-US" dirty="0">
                <a:sz val="1400"/>
              </a:rPr>
              <a:t>Double Disc Refiner — max motor 315–1,800 kW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PAPERMAKING MACHINE:</a:t>
            </a:r>
          </a:p>
          <a:p>
            <a:pPr marL="457200" indent="0">
      </a:pPr>
            <a:r>
              <a:rPr lang="en-US" dirty="0">
                <a:sz val="1400"/>
              </a:rPr>
              <a:t>Headbox / Wire / Press / Dryer / Size Press / Calendar</a:t>
            </a:r>
          </a:p>
          <a:p>
            <a:pPr marL="457200" indent="0">
      </a:pPr>
            <a:r>
              <a:rPr lang="en-US" dirty="0">
                <a:sz val="1400"/>
              </a:rPr>
              <a:t>Trim width: up to 6,600 mm</a:t>
            </a:r>
          </a:p>
          <a:p>
            <a:pPr marL="457200" indent="0">
      </a:pPr>
            <a:r>
              <a:rPr lang="en-US" dirty="0">
                <a:sz val="1400"/>
              </a:rPr>
              <a:t>Speed: up to 2,200 m/min | Capacity: up to 1,000 TPD</a:t>
            </a:r>
          </a:p>
          <a:p>
            <a:pPr marL="457200" indent="0">
      </a:pPr>
            <a:r>
              <a:rPr lang="en-US" dirty="0">
                <a:sz val="1400"/>
              </a:rPr>
              <a:t>GSM range: 13–500 g/m2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Manpower — 80 Total Personnel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14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Top Management .............. 4</a:t>
            </a:r>
          </a:p>
          <a:p>
            <a:pPr marL="0" indent="0">
      </a:pPr>
            <a:r>
              <a:rPr lang="en-US" dirty="0">
                <a:sz val="1500"/>
              </a:rPr>
              <a:t>Supply Chain &amp; Logistics ..... 11</a:t>
            </a:r>
          </a:p>
          <a:p>
            <a:pPr marL="0" indent="0">
      </a:pPr>
            <a:r>
              <a:rPr lang="en-US" dirty="0">
                <a:sz val="1500"/>
              </a:rPr>
              <a:t>Operating Personnel (Mill) ... 19</a:t>
            </a:r>
          </a:p>
          <a:p>
            <a:pPr marL="0" indent="0">
      </a:pPr>
            <a:r>
              <a:rPr lang="en-US" dirty="0">
                <a:sz val="1500"/>
              </a:rPr>
              <a:t>Quality Control &amp; Assurance .. 4</a:t>
            </a:r>
          </a:p>
          <a:p>
            <a:pPr marL="0" indent="0">
      </a:pPr>
            <a:r>
              <a:rPr lang="en-US" dirty="0">
                <a:sz val="1500"/>
              </a:rPr>
              <a:t>Maintenance &amp; Engineering .... 8</a:t>
            </a:r>
          </a:p>
          <a:p>
            <a:pPr marL="0" indent="0">
      </a:pPr>
            <a:r>
              <a:rPr lang="en-US" dirty="0">
                <a:sz val="1500"/>
              </a:rPr>
              <a:t>Packaging ................... 9</a:t>
            </a:r>
          </a:p>
          <a:p>
            <a:pPr marL="0" indent="0">
      </a:pPr>
            <a:r>
              <a:rPr lang="en-US" dirty="0">
                <a:sz val="1500"/>
              </a:rPr>
              <a:t>EHS &amp; Security .............. 6</a:t>
            </a:r>
          </a:p>
          <a:p>
            <a:pPr marL="0" indent="0">
      </a:pPr>
            <a:r>
              <a:rPr lang="en-US" dirty="0">
                <a:sz val="1500"/>
              </a:rPr>
              <a:t>Sales &amp; Marketing ........... 7</a:t>
            </a:r>
          </a:p>
          <a:p>
            <a:pPr marL="0" indent="0">
      </a:pPr>
            <a:r>
              <a:rPr lang="en-US" dirty="0">
                <a:sz val="1500"/>
              </a:rPr>
              <a:t>Human Resource Admin ........ 7</a:t>
            </a:r>
          </a:p>
          <a:p>
            <a:pPr marL="0" indent="0">
      </a:pPr>
            <a:r>
              <a:rPr lang="en-US" dirty="0">
                <a:sz val="1500"/>
              </a:rPr>
              <a:t>Finance &amp; Accounting ........ 5</a:t>
            </a:r>
          </a:p>
          <a:p>
            <a:pPr marL="0" indent="0">
      </a:pPr>
            <a:r>
              <a:rPr lang="en-US" dirty="0">
                <a:sz val="1500"/>
              </a:rPr>
              <a:t>─────────────────────────────</a:t>
            </a:r>
          </a:p>
          <a:p>
            <a:pPr marL="0" indent="0">
      </a:pPr>
            <a:r>
              <a:rPr lang="en-US" dirty="0">
                <a:sz val="1500"/>
              </a:rPr>
              <a:t>TOTAL ....................... 80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Priority hiring: Local residents of SJDM and Bulacan Province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Industry Context — Existing Paper Mills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15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Major paper mills in Central Luzon: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United Pulp &amp; Paper Corp. — Calumpit, Bulacan</a:t>
            </a:r>
          </a:p>
          <a:p>
            <a:pPr marL="457200" indent="0">
      </a:pPr>
            <a:r>
              <a:rPr lang="en-US" dirty="0">
                <a:sz val="1400"/>
              </a:rPr>
              <a:t>Products: Corrugating medium, test liner</a:t>
            </a:r>
          </a:p>
          <a:p>
            <a:pPr marL="457200" indent="0">
      </a:pPr>
            <a:r>
              <a:rPr lang="en-US" dirty="0">
                <a:sz val="1400"/>
              </a:rPr>
              <a:t>Capacity: 230,000 MT/year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Trust International Paper Corp. — Mabalacat, Pampanga</a:t>
            </a:r>
          </a:p>
          <a:p>
            <a:pPr marL="457200" indent="0">
      </a:pPr>
            <a:r>
              <a:rPr lang="en-US" dirty="0">
                <a:sz val="1400"/>
              </a:rPr>
              <a:t>Products: Newsprint, printing &amp; writing</a:t>
            </a:r>
          </a:p>
          <a:p>
            <a:pPr marL="457200" indent="0">
      </a:pPr>
            <a:r>
              <a:rPr lang="en-US" dirty="0">
                <a:sz val="1400"/>
              </a:rPr>
              <a:t>Capacity: 230,000 MT/year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Bataan 2020 Inc. — Samal, Bataan</a:t>
            </a:r>
          </a:p>
          <a:p>
            <a:pPr marL="457200" indent="0">
      </a:pPr>
            <a:r>
              <a:rPr lang="en-US" dirty="0">
                <a:sz val="1400"/>
              </a:rPr>
              <a:t>Products: Printing/writing, newsprint, tissue</a:t>
            </a:r>
          </a:p>
          <a:p>
            <a:pPr marL="457200" indent="0">
      </a:pPr>
            <a:r>
              <a:rPr lang="en-US" dirty="0">
                <a:sz val="1400"/>
              </a:rPr>
              <a:t>Capacity: 73,000 MT/year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Container Corp. of the Philippines — Quezon City</a:t>
            </a:r>
          </a:p>
          <a:p>
            <a:pPr marL="457200" indent="0">
      </a:pPr>
            <a:r>
              <a:rPr lang="en-US" dirty="0">
                <a:sz val="1400"/>
              </a:rPr>
              <a:t>Products: Corrugating medium, chipboard</a:t>
            </a:r>
          </a:p>
          <a:p>
            <a:pPr marL="457200" indent="0">
      </a:pPr>
            <a:r>
              <a:rPr lang="en-US" dirty="0">
                <a:sz val="1400"/>
              </a:rPr>
              <a:t>Capacity: 89,000 MT/year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Design Computations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16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MASS BALANCE (Target: 1,200 kg paper/hr):</a:t>
            </a:r>
          </a:p>
          <a:p>
            <a:pPr marL="457200" indent="0">
      </a:pPr>
            <a:r>
              <a:rPr lang="en-US" dirty="0">
                <a:sz val="1400"/>
              </a:rPr>
              <a:t>Dry fiber required .......... ~1,333 kg/hr</a:t>
            </a:r>
          </a:p>
          <a:p>
            <a:pPr marL="457200" indent="0">
      </a:pPr>
            <a:r>
              <a:rPr lang="en-US" dirty="0">
                <a:sz val="1400"/>
              </a:rPr>
              <a:t>Water required .............. ~25,333 kg/hr</a:t>
            </a:r>
          </a:p>
          <a:p>
            <a:pPr marL="457200" indent="0">
      </a:pPr>
            <a:r>
              <a:rPr lang="en-US" dirty="0">
                <a:sz val="1400"/>
              </a:rPr>
              <a:t>Total pulp slurry ........... ~26,667 kg/hr</a:t>
            </a:r>
          </a:p>
          <a:p>
            <a:pPr marL="457200" indent="0">
      </a:pPr>
            <a:r>
              <a:rPr lang="en-US" dirty="0">
                <a:sz val="1400"/>
              </a:rPr>
              <a:t>Water evaporated at dryer ... 1,800 kg/hr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PAPERMAKING CALCULATIONS:</a:t>
            </a:r>
          </a:p>
          <a:p>
            <a:pPr marL="457200" indent="0">
      </a:pPr>
            <a:r>
              <a:rPr lang="en-US" dirty="0">
                <a:sz val="1400"/>
              </a:rPr>
              <a:t>Machine speed: 200 m/min | Deckle: 3.2 m | GSM: 50</a:t>
            </a:r>
          </a:p>
          <a:p>
            <a:pPr marL="457200" indent="0">
      </a:pPr>
            <a:r>
              <a:rPr lang="en-US" dirty="0">
                <a:sz val="1400"/>
              </a:rPr>
              <a:t>Ream weight: 40cm x 60cm, 500 sheets at 50 GSM</a:t>
            </a:r>
          </a:p>
          <a:p>
            <a:pPr marL="457200" indent="0">
      </a:pPr>
            <a:r>
              <a:rPr lang="en-US" dirty="0">
                <a:sz val="1400"/>
              </a:rPr>
              <a:t>Final dryness: 95% | Entering dryer dryness: 38%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PIPING MATERIAL SELECTION:</a:t>
            </a:r>
          </a:p>
          <a:p>
            <a:pPr marL="457200" indent="0">
      </a:pPr>
            <a:r>
              <a:rPr lang="en-US" dirty="0">
                <a:sz val="1400"/>
              </a:rPr>
              <a:t>Kraft / Sulfite pulp → Copper pipe</a:t>
            </a:r>
          </a:p>
          <a:p>
            <a:pPr marL="457200" indent="0">
      </a:pPr>
            <a:r>
              <a:rPr lang="en-US" dirty="0">
                <a:sz val="1400"/>
              </a:rPr>
              <a:t>Mechanical / Groundwood → PVC pipe</a:t>
            </a:r>
          </a:p>
          <a:p>
            <a:pPr marL="457200" indent="0">
      </a:pPr>
            <a:r>
              <a:rPr lang="en-US" dirty="0">
                <a:sz val="1400"/>
              </a:rPr>
              <a:t>Long-fiber kraft (never dried) → Stainless Steel / PVC</a:t>
            </a:r>
          </a:p>
          <a:p>
            <a:pPr marL="457200" indent="0">
      </a:pPr>
            <a:r>
              <a:rPr lang="en-US" dirty="0">
                <a:sz val="1400"/>
              </a:rPr>
              <a:t>Soda pulp → Steel pipe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Conclusion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17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REAM-R-KABLE FIBERS — key takeaways: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228600" indent="0">
      </a:pPr>
            <a:r>
              <a:rPr lang="en-US" dirty="0">
                <a:sz val="1500"/>
              </a:rPr>
              <a:t>✓ Location: SJDM, Bulacan — strategic, safe, accessible</a:t>
            </a:r>
          </a:p>
          <a:p>
            <a:pPr marL="228600" indent="0">
      </a:pPr>
            <a:r>
              <a:rPr lang="en-US" dirty="0">
                <a:sz val="1500"/>
              </a:rPr>
              <a:t>✓ Raw Material: Recycled wastepaper (primary) + imported pulp</a:t>
            </a:r>
          </a:p>
          <a:p>
            <a:pPr marL="228600" indent="0">
      </a:pPr>
            <a:r>
              <a:rPr lang="en-US" dirty="0">
                <a:sz val="1500"/>
              </a:rPr>
              <a:t>✓ Three Pulping Methods: Kraft, Mechanical, Wastepaper</a:t>
            </a:r>
          </a:p>
          <a:p>
            <a:pPr marL="228600" indent="0">
      </a:pPr>
            <a:r>
              <a:rPr lang="en-US" dirty="0">
                <a:sz val="1500"/>
              </a:rPr>
              <a:t>✓ Five Design Constraints addressed: Environmental, Raw Material,</a:t>
            </a:r>
          </a:p>
          <a:p>
            <a:pPr marL="457200" indent="0">
      </a:pPr>
            <a:r>
              <a:rPr lang="en-US" dirty="0">
                <a:sz val="1400"/>
              </a:rPr>
              <a:t>Energy, Technical, and Site</a:t>
            </a:r>
          </a:p>
          <a:p>
            <a:pPr marL="228600" indent="0">
      </a:pPr>
            <a:r>
              <a:rPr lang="en-US" dirty="0">
                <a:sz val="1500"/>
              </a:rPr>
              <a:t>✓ Total Workforce: 80 personnel</a:t>
            </a:r>
          </a:p>
          <a:p>
            <a:pPr marL="457200" indent="0">
      </a:pPr>
            <a:r>
              <a:rPr lang="en-US" dirty="0">
                <a:sz val="1400"/>
              </a:rPr>
              <a:t>Priority hiring: local community of SJDM and Bulacan</a:t>
            </a:r>
          </a:p>
          <a:p>
            <a:pPr marL="228600" indent="0">
      </a:pPr>
            <a:r>
              <a:rPr lang="en-US" dirty="0">
                <a:sz val="1500"/>
              </a:rPr>
              <a:t>✓ Hazard-safe: low risk for flood, surge, liquefaction, landslide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        <a:buNone/>
            </a:pPr>
            <a:r>
              <a:rPr lang="en-US" dirty="0">
                <a:b/>
                <a:sz val="1600"/>
                <a:solidFill>
                  <a:srgbClr val="2E75B6"/>
                </a:solidFill>
              </a:rPr>
              <a:t>VISION:</a:t>
            </a:r>
          </a:p>
          <a:p>
            <a:pPr marL="0" indent="0">
      </a:pPr>
            <a:r>
              <a:rPr lang="en-US" dirty="0">
                <a:sz val="1500"/>
              </a:rPr>
              <a:t>Premier, most technologically advanced, and environmentally</a:t>
            </a:r>
          </a:p>
          <a:p>
            <a:pPr marL="0" indent="0">
      </a:pPr>
            <a:r>
              <a:rPr lang="en-US" dirty="0">
                <a:sz val="1500"/>
              </a:rPr>
              <a:t>remarkable pulp and paper mill in Southeast Asia.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!-- BACKGROUND -->
      <p:sp>
        <p:nvSpPr>
          <p:cNvPr id="2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txBody>
          <a:bodyPr/>
          <a:lstStyle/>
          <a:p/>
        </p:txBody>
      </p:sp>
      <!-- TITLE BAR -->
      <p:sp>
        <p:nvSpPr>
          <p:cNvPr id="3" name="titlebar"/>
          <p:cNvSpPr>
            <a:spLocks noGrp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/>
        </p:txBody>
      </p:sp>
      <!-- TITLE TEXT -->
      <p:sp>
        <p:nvSpPr>
          <p:cNvPr id="4" name="title"/>
          <p:cNvSpPr>
            <a:spLocks noGrp="1"/>
          </p:cNvSpPr>
          <p:nvPr/>
        </p:nvSpPr>
        <p:spPr>
          <a:xfrm>
            <a:off x="228600" y="50800"/>
            <a:ext cx="86868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b/>
                <a:sz val="2200"/>
                <a:solidFill>
                  <a:srgbClr val="FFFFFF"/>
                </a:solidFill>
              </a:rPr>
              <a:t>References</a:t>
            </a:r>
          </a:p>
        </p:txBody>
      </p:sp>
      <!-- SLIDE NUMBER -->
      <p:sp>
        <p:nvSpPr>
          <p:cNvPr id="5" name="slidenum"/>
          <p:cNvSpPr/>
          <p:nvPr/>
        </p:nvSpPr>
        <p:spPr>
          <a:xfrm>
            <a:off x="8382000" y="50800"/>
            <a:ext cx="698500" cy="787400"/>
          </a:xfrm>
          <a:prstGeom prst="rect">
            <a:avLst/>
          </a:prstGeom>
          <a:noFill/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200"/>
                <a:solidFill>
                  <a:srgbClr val="AAAAAA"/>
                </a:solidFill>
              </a:rPr>
              <a:t>18 / 18</a:t>
            </a:r>
          </a:p>
        </p:txBody>
      </p:sp>
      <!-- CONTENT -->
      <p:sp>
        <p:nvSpPr>
          <p:cNvPr id="6" name="content"/>
          <p:cNvSpPr>
            <a:spLocks noGrp="1"/>
          </p:cNvSpPr>
          <p:nvPr/>
        </p:nvSpPr>
        <p:spPr>
          <a:xfrm>
            <a:off x="381000" y="1066800"/>
            <a:ext cx="8382000" cy="3822700"/>
          </a:xfrm>
          <a:prstGeom prst="rect">
            <a:avLst/>
          </a:prstGeom>
          <a:noFill/>
        </p:spPr>
        <p:txBody>
          <a:bodyPr wrap="square" lIns="50800" rIns="50800" tIns="50800" bIns="50800" anchor="t"/>
          <a:lstStyle/>
          <a:p>
            <a:pPr marL="0" indent="0">
      </a:pPr>
            <a:r>
              <a:rPr lang="en-US" dirty="0">
                <a:sz val="1500"/>
              </a:rPr>
              <a:t>AGICO Paper. (n.d.). Pulp mill machinery &amp; paper making equipment.</a:t>
            </a:r>
          </a:p>
          <a:p>
            <a:pPr marL="457200" indent="0">
      </a:pPr>
            <a:r>
              <a:rPr lang="en-US" dirty="0">
                <a:sz val="1400"/>
              </a:rPr>
              <a:t>https://agicopaper.com/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Andritz. (n.d.). KPR paper capabilities brochure.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Bureau of Energy Efficiency. (n.d.).</a:t>
            </a:r>
          </a:p>
          <a:p>
            <a:pPr marL="457200" indent="0">
      </a:pPr>
            <a:r>
              <a:rPr lang="en-US" dirty="0">
                <a:sz val="1400"/>
              </a:rPr>
              <a:t>Best practice manual: Fluid piping systems.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Golden Paper Group. (n.d.). Raw materials for paper making guide.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Paper Mill Machine. (n.d.). Pulp mill section equipment catalogue.</a:t>
            </a:r>
          </a:p>
          <a:p>
            <a:pPr marL="457200" indent="0">
      </a:pPr>
            <a:r>
              <a:rPr lang="en-US" dirty="0">
                <a:sz val="1400"/>
              </a:rPr>
              <a:t>https://papermillmachine.com/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Provincial Government of Bulacan. (2010). PDPFP 2010–2030.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Sarkar, S. (n.d.). Headbox calculations. Scribd.</a:t>
            </a:r>
          </a:p>
          <a:p>
            <a:pPr marL="0" indent="0">
              <a:buNone/>
            </a:pPr>
            <a:r>
              <a:rPr lang="en-US" dirty="0">
                <a:sz val="1000"/>
              </a:rPr>
              <a:t> </a:t>
            </a:r>
          </a:p>
          <a:p>
            <a:pPr marL="0" indent="0">
      </a:pPr>
            <a:r>
              <a:rPr lang="en-US" dirty="0">
                <a:sz val="1500"/>
              </a:rPr>
              <a:t>DAV University. (n.d.). MEC250-POM: Plant location and layout.</a:t>
            </a:r>
          </a:p>
        </p:txBody>
      </p:sp>
      <!-- FOOTER BAR -->
      <p:sp>
        <p:nvSpPr>
          <p:cNvPr id="7" name="footer"/>
          <p:cNvSpPr/>
          <p:nvPr/>
        </p:nvSpPr>
        <p:spPr>
          <a:xfrm>
            <a:off x="0" y="4864100"/>
            <a:ext cx="9144000" cy="279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sz val="1000"/>
                <a:solidFill>
                  <a:srgbClr val="FFFFFF"/>
                </a:solidFill>
              </a:rPr>
              <a:t>REAM-R-KABLE FIBERS  |  Paper and Pulp Industry  |  BSME 4A  |  A.Y. 2025–2026</a:t>
            </a:r>
          </a:p>
        </p:txBody>
      </p:sp>
    </p:spTree>
  </p:cSld>
</p:sld>
</file>